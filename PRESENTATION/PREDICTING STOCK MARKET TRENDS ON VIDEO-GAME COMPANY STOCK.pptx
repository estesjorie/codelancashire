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8" r:id="rId5"/>
    <p:sldId id="259" r:id="rId6"/>
    <p:sldId id="277" r:id="rId7"/>
    <p:sldId id="261" r:id="rId8"/>
    <p:sldId id="268" r:id="rId9"/>
    <p:sldId id="267" r:id="rId10"/>
    <p:sldId id="265" r:id="rId11"/>
    <p:sldId id="260" r:id="rId12"/>
    <p:sldId id="266" r:id="rId13"/>
    <p:sldId id="262" r:id="rId14"/>
    <p:sldId id="269" r:id="rId15"/>
    <p:sldId id="270" r:id="rId16"/>
    <p:sldId id="271" r:id="rId17"/>
    <p:sldId id="275" r:id="rId18"/>
    <p:sldId id="272" r:id="rId19"/>
    <p:sldId id="276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94"/>
  </p:normalViewPr>
  <p:slideViewPr>
    <p:cSldViewPr snapToGrid="0">
      <p:cViewPr varScale="1">
        <p:scale>
          <a:sx n="104" d="100"/>
          <a:sy n="104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86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09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79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17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657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67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40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73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3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59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12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FBFA526-EC87-4DA8-B9F8-6C0E06001BF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C407265-9D0D-4A6A-868D-07C670F2D6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4755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897F-0049-C6EA-EFDE-74DC3FB59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6601"/>
            <a:ext cx="9144000" cy="2387600"/>
          </a:xfrm>
        </p:spPr>
        <p:txBody>
          <a:bodyPr>
            <a:normAutofit/>
          </a:bodyPr>
          <a:lstStyle/>
          <a:p>
            <a:r>
              <a:rPr lang="en-GB" sz="4400" b="1" i="0" dirty="0">
                <a:solidFill>
                  <a:srgbClr val="F0F6FC"/>
                </a:solidFill>
                <a:effectLst/>
              </a:rPr>
              <a:t>PREDICTING STOCK MARKET TRENDS ON VIDEO-GAME COMPANY STOCK DATA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64152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D0D7-FA0D-FA8F-22B4-D2E10AC8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35596-B2C8-7BA8-B543-A3D75B320D7C}"/>
              </a:ext>
            </a:extLst>
          </p:cNvPr>
          <p:cNvSpPr txBox="1"/>
          <p:nvPr/>
        </p:nvSpPr>
        <p:spPr>
          <a:xfrm>
            <a:off x="3047327" y="5854969"/>
            <a:ext cx="1533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 Aged 8 (2011)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696CD-3E95-9EC7-0385-B7DC3B68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716" y="1310883"/>
            <a:ext cx="2648919" cy="4236234"/>
          </a:xfrm>
          <a:prstGeom prst="rect">
            <a:avLst/>
          </a:prstGeom>
        </p:spPr>
      </p:pic>
      <p:pic>
        <p:nvPicPr>
          <p:cNvPr id="7" name="Picture 6" descr="A person playing video games on a computer&#10;&#10;Description automatically generated">
            <a:extLst>
              <a:ext uri="{FF2B5EF4-FFF2-40B4-BE49-F238E27FC236}">
                <a16:creationId xmlns:a16="http://schemas.microsoft.com/office/drawing/2014/main" id="{5703757C-42C0-2D7B-5633-A85D8A18B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367" y="1489523"/>
            <a:ext cx="3956503" cy="3878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B265D4-0793-2772-8D91-C2C45ECE524A}"/>
              </a:ext>
            </a:extLst>
          </p:cNvPr>
          <p:cNvSpPr txBox="1"/>
          <p:nvPr/>
        </p:nvSpPr>
        <p:spPr>
          <a:xfrm>
            <a:off x="8400435" y="5877549"/>
            <a:ext cx="1533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 Aged 22 (2025)</a:t>
            </a:r>
          </a:p>
        </p:txBody>
      </p:sp>
    </p:spTree>
    <p:extLst>
      <p:ext uri="{BB962C8B-B14F-4D97-AF65-F5344CB8AC3E}">
        <p14:creationId xmlns:p14="http://schemas.microsoft.com/office/powerpoint/2010/main" val="165178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FEA9-A7CE-F011-FC9C-19737145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DC88-382B-4B51-1095-C96847D6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Data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E46E4CF-8D48-2283-DF21-A239D711D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19" y="1372300"/>
            <a:ext cx="3348728" cy="4113399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FC064C6D-AFED-8CA2-E059-744A10B88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01757"/>
            <a:ext cx="5772931" cy="378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16DF-B5BA-EB80-9FB2-AEDA5171C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D611-15EA-0555-10E5-1989D79F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Company/Stock Tickers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ED37966-D07D-71F9-48FF-0BD57B35E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059" b="60786"/>
          <a:stretch/>
        </p:blipFill>
        <p:spPr>
          <a:xfrm>
            <a:off x="3450624" y="1217551"/>
            <a:ext cx="5290752" cy="524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8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B4A4-A7D5-6C88-A9E9-FD0D9E40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D55C-B72B-234B-2812-01A4D741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Basic Plot of ‘Close’ Value</a:t>
            </a:r>
          </a:p>
        </p:txBody>
      </p:sp>
      <p:pic>
        <p:nvPicPr>
          <p:cNvPr id="5" name="Picture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42FC1B0C-EF37-1917-3FEF-1C1300EAB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273" y="1454150"/>
            <a:ext cx="4953000" cy="394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5B7B5-3CBC-B1CE-5F84-D17857604874}"/>
              </a:ext>
            </a:extLst>
          </p:cNvPr>
          <p:cNvSpPr txBox="1"/>
          <p:nvPr/>
        </p:nvSpPr>
        <p:spPr>
          <a:xfrm>
            <a:off x="7882759" y="1606378"/>
            <a:ext cx="364708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</a:rPr>
              <a:t>SONY Release History (2000 – 2024)</a:t>
            </a:r>
          </a:p>
          <a:p>
            <a:endParaRPr lang="en-GB" sz="1600" dirty="0">
              <a:effectLst/>
              <a:latin typeface="Helvetica Neue" panose="02000503000000020004" pitchFamily="2" charset="0"/>
            </a:endParaRP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PS2 - October 2000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PSP - December 2004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PS3 - November 2006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 Vita - February 2012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PS4 - November 2013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PS4 Pro - November 2016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PS5 - November 2020</a:t>
            </a:r>
          </a:p>
        </p:txBody>
      </p:sp>
    </p:spTree>
    <p:extLst>
      <p:ext uri="{BB962C8B-B14F-4D97-AF65-F5344CB8AC3E}">
        <p14:creationId xmlns:p14="http://schemas.microsoft.com/office/powerpoint/2010/main" val="121040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748C-288C-355F-E376-773C257C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373F-1589-F414-F10A-E96952750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Basic Plot of ‘Close’ Value</a:t>
            </a:r>
          </a:p>
        </p:txBody>
      </p:sp>
      <p:pic>
        <p:nvPicPr>
          <p:cNvPr id="5" name="Picture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9E849D4-1803-17C1-AE77-4334193DC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273" y="1454150"/>
            <a:ext cx="4953000" cy="394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283A6-2385-F30D-6668-619D9704C2B9}"/>
              </a:ext>
            </a:extLst>
          </p:cNvPr>
          <p:cNvSpPr txBox="1"/>
          <p:nvPr/>
        </p:nvSpPr>
        <p:spPr>
          <a:xfrm>
            <a:off x="7882759" y="1606378"/>
            <a:ext cx="364708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</a:rPr>
              <a:t>SONY Release History (2000 – 2024)</a:t>
            </a:r>
          </a:p>
          <a:p>
            <a:endParaRPr lang="en-GB" sz="1600" dirty="0">
              <a:effectLst/>
              <a:latin typeface="Helvetica Neue" panose="02000503000000020004" pitchFamily="2" charset="0"/>
            </a:endParaRP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PS2 - October 2000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PSP - December 2004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PS3 - November 2006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 Vita - February 2012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PS4 - November 2013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PS4 Pro - November 2016</a:t>
            </a:r>
          </a:p>
          <a:p>
            <a:r>
              <a:rPr lang="en-GB" sz="1600" dirty="0">
                <a:effectLst/>
                <a:latin typeface="Helvetica Neue" panose="02000503000000020004" pitchFamily="2" charset="0"/>
              </a:rPr>
              <a:t>PS5 - November 2020</a:t>
            </a:r>
          </a:p>
        </p:txBody>
      </p:sp>
    </p:spTree>
    <p:extLst>
      <p:ext uri="{BB962C8B-B14F-4D97-AF65-F5344CB8AC3E}">
        <p14:creationId xmlns:p14="http://schemas.microsoft.com/office/powerpoint/2010/main" val="213841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FAC7-F7D8-BD93-E64B-0ADE314EB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2970-6099-FE3E-651E-78CBD277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Optimisation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B92FD04-E740-8252-0C10-673AB35F4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96" r="45340" b="13698"/>
          <a:stretch/>
        </p:blipFill>
        <p:spPr>
          <a:xfrm>
            <a:off x="2068860" y="1383957"/>
            <a:ext cx="8054280" cy="508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8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AF5F-D705-45E2-7FCE-056DFC87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43CF-BD80-FDED-117D-AD0B5091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Checkpoint System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1CE654F-4CAD-3D66-63B9-AB7F83DFA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3" r="49631" b="22056"/>
          <a:stretch/>
        </p:blipFill>
        <p:spPr>
          <a:xfrm>
            <a:off x="2816032" y="1501757"/>
            <a:ext cx="6559936" cy="491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4CB49-F142-9D3C-A536-B56B7C63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56BE-C461-93AF-D461-126218C2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Checkpoint System in Action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95DECB2-28CD-163B-CDF3-461C6E896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3" r="29555" b="57576"/>
          <a:stretch/>
        </p:blipFill>
        <p:spPr>
          <a:xfrm>
            <a:off x="1246408" y="1925461"/>
            <a:ext cx="9699184" cy="339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EF03-A5DF-E48D-088C-7E2ED112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C6C2-1B15-4517-B431-80327B45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Decision Tree Visualisation (Model0)</a:t>
            </a:r>
          </a:p>
        </p:txBody>
      </p:sp>
      <p:pic>
        <p:nvPicPr>
          <p:cNvPr id="4" name="Picture 3" descr="A diagram of a network&#10;&#10;Description automatically generated">
            <a:extLst>
              <a:ext uri="{FF2B5EF4-FFF2-40B4-BE49-F238E27FC236}">
                <a16:creationId xmlns:a16="http://schemas.microsoft.com/office/drawing/2014/main" id="{49E74F35-7B3C-3AA3-0DF8-88A6D9908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08" y="1501757"/>
            <a:ext cx="9951983" cy="497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02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9DB4-19A5-1B0E-2B62-6B4C2A22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00BD-3777-23D5-626A-2B4EA7D5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Decision Tree Visualisation (Model)</a:t>
            </a:r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B383FDA9-F465-4433-11E3-3633A990E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724" y="1501757"/>
            <a:ext cx="9932552" cy="496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9AF1-3350-C8E5-F272-D09316DB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9714-9E57-1A90-55D5-06A9D9012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Decision Tree Visualisation (Model 1)</a:t>
            </a:r>
          </a:p>
        </p:txBody>
      </p:sp>
      <p:pic>
        <p:nvPicPr>
          <p:cNvPr id="4" name="Picture 3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35D5BDED-4015-96B6-993B-6E809FFD0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73" y="1501757"/>
            <a:ext cx="9614054" cy="483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B8EAAC-6306-A888-34F7-DC47FC79B6FE}"/>
              </a:ext>
            </a:extLst>
          </p:cNvPr>
          <p:cNvSpPr txBox="1"/>
          <p:nvPr/>
        </p:nvSpPr>
        <p:spPr>
          <a:xfrm>
            <a:off x="1288973" y="5719227"/>
            <a:ext cx="60539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i="0" dirty="0" err="1">
                <a:solidFill>
                  <a:srgbClr val="FF0000"/>
                </a:solidFill>
                <a:effectLst/>
                <a:latin typeface="var(--notebook-cell-output-font-family)"/>
              </a:rPr>
              <a:t>IndexError</a:t>
            </a:r>
            <a:r>
              <a:rPr lang="en-GB" sz="3200" b="1" i="0" dirty="0">
                <a:solidFill>
                  <a:srgbClr val="FF0000"/>
                </a:solidFill>
                <a:effectLst/>
                <a:latin typeface="var(--notebook-cell-output-font-family)"/>
              </a:rPr>
              <a:t>: list index out of range</a:t>
            </a:r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180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A1356-0A43-1F5F-5C0C-418D48EA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C40A-2B2F-A5AD-7A02-3BB644A4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Model O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B85D70A-12D8-E9EB-0319-CA924E67D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27" r="45817" b="27300"/>
          <a:stretch/>
        </p:blipFill>
        <p:spPr>
          <a:xfrm>
            <a:off x="1888190" y="1501757"/>
            <a:ext cx="8415619" cy="407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5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7912-171B-8AA8-E9B2-F5BC1DB5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8A5A-D65B-C1B9-8EA8-1991F346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Model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B6A780B-DC46-E4B4-2572-B81BE920F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5" r="30873" b="12000"/>
          <a:stretch/>
        </p:blipFill>
        <p:spPr>
          <a:xfrm>
            <a:off x="2105930" y="419093"/>
            <a:ext cx="7980140" cy="60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17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3E9F2-2CEE-25CF-D662-628E6297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7250-0845-6692-74D7-24BEB17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Model 1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8D2D3E0D-BBE9-9DB6-20E4-B37EF2E97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5" r="30158" b="4941"/>
          <a:stretch/>
        </p:blipFill>
        <p:spPr>
          <a:xfrm>
            <a:off x="2384583" y="838975"/>
            <a:ext cx="7422834" cy="573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6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9C48-0593-E378-E187-CB56CBF6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6D43BB-CD0E-CA7B-E231-3124C6F5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756254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434E-F8A2-6E2A-7735-5419B577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and yellow lines&#10;&#10;Description automatically generated">
            <a:extLst>
              <a:ext uri="{FF2B5EF4-FFF2-40B4-BE49-F238E27FC236}">
                <a16:creationId xmlns:a16="http://schemas.microsoft.com/office/drawing/2014/main" id="{084FC187-14C2-E719-13E7-D3EC0E05F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320" y="349200"/>
            <a:ext cx="9855359" cy="61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08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E763-3D47-923B-A695-3AE44F8E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86B9187D-1FB3-0B75-A2D3-F84956F0E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320" y="349200"/>
            <a:ext cx="9855359" cy="61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13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E2CB-EDA4-97BB-5427-0FE09E54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arcode diagram with green lines&#10;&#10;Description automatically generated">
            <a:extLst>
              <a:ext uri="{FF2B5EF4-FFF2-40B4-BE49-F238E27FC236}">
                <a16:creationId xmlns:a16="http://schemas.microsoft.com/office/drawing/2014/main" id="{5FC4AFEB-F949-1E16-418A-DA32CF5A1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750" y="349469"/>
            <a:ext cx="9854499" cy="61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16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8E18D-FAD9-4F60-B3C0-292BABB65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B3C5-6AEB-4BAF-2C40-5BBF1E6A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76194"/>
            <a:ext cx="10515600" cy="1325563"/>
          </a:xfrm>
        </p:spPr>
        <p:txBody>
          <a:bodyPr/>
          <a:lstStyle/>
          <a:p>
            <a:r>
              <a:rPr lang="en-GB" b="1" dirty="0"/>
              <a:t>Link to Project and Questions?</a:t>
            </a:r>
          </a:p>
        </p:txBody>
      </p:sp>
      <p:pic>
        <p:nvPicPr>
          <p:cNvPr id="5" name="Picture 4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91A9875D-7BA7-C54E-9164-76292FFAA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148" y="1299517"/>
            <a:ext cx="5069703" cy="506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163</Words>
  <Application>Microsoft Macintosh PowerPoint</Application>
  <PresentationFormat>Widescreen</PresentationFormat>
  <Paragraphs>39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Helvetica Neue</vt:lpstr>
      <vt:lpstr>var(--notebook-cell-output-font-family)</vt:lpstr>
      <vt:lpstr>Office Theme</vt:lpstr>
      <vt:lpstr>PREDICTING STOCK MARKET TRENDS ON VIDEO-GAME COMPANY STOCK DATA</vt:lpstr>
      <vt:lpstr>Background</vt:lpstr>
      <vt:lpstr>Data</vt:lpstr>
      <vt:lpstr>Company/Stock Tickers</vt:lpstr>
      <vt:lpstr>Basic Plot of ‘Close’ Value</vt:lpstr>
      <vt:lpstr>Basic Plot of ‘Close’ Value</vt:lpstr>
      <vt:lpstr>Optimisation</vt:lpstr>
      <vt:lpstr>Checkpoint System</vt:lpstr>
      <vt:lpstr>Checkpoint System in Action</vt:lpstr>
      <vt:lpstr>Decision Tree Visualisation (Model0)</vt:lpstr>
      <vt:lpstr>Decision Tree Visualisation (Model)</vt:lpstr>
      <vt:lpstr>Decision Tree Visualisation (Model 1)</vt:lpstr>
      <vt:lpstr>Model O</vt:lpstr>
      <vt:lpstr>Model</vt:lpstr>
      <vt:lpstr>Model 1</vt:lpstr>
      <vt:lpstr>RESULTS</vt:lpstr>
      <vt:lpstr>PowerPoint Presentation</vt:lpstr>
      <vt:lpstr>PowerPoint Presentation</vt:lpstr>
      <vt:lpstr>PowerPoint Presentation</vt:lpstr>
      <vt:lpstr>Link to Project and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Tresise, Joe (Postgraduate Student)</dc:creator>
  <cp:lastModifiedBy>Tresise, Joe (Postgraduate Student)</cp:lastModifiedBy>
  <cp:revision>6</cp:revision>
  <dcterms:created xsi:type="dcterms:W3CDTF">2025-01-07T17:51:27Z</dcterms:created>
  <dcterms:modified xsi:type="dcterms:W3CDTF">2025-01-13T17:06:09Z</dcterms:modified>
</cp:coreProperties>
</file>